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8288000" cy="10287000"/>
  <p:notesSz cx="6858000" cy="9144000"/>
  <p:embeddedFontLst>
    <p:embeddedFont>
      <p:font typeface="Open Sans" charset="1" panose="00000000000000000000"/>
      <p:regular r:id="rId43"/>
    </p:embeddedFont>
    <p:embeddedFont>
      <p:font typeface="Open Sans Bold" charset="1" panose="0000000000000000000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3.png" Type="http://schemas.openxmlformats.org/officeDocument/2006/relationships/image"/><Relationship Id="rId8" Target="../embeddings/oleObject1.bin" Type="http://schemas.openxmlformats.org/officeDocument/2006/relationships/oleObjec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28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29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55" r="0" b="-387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9494" y="1477212"/>
            <a:ext cx="15979806" cy="8229600"/>
          </a:xfrm>
          <a:custGeom>
            <a:avLst/>
            <a:gdLst/>
            <a:ahLst/>
            <a:cxnLst/>
            <a:rect r="r" b="b" t="t" l="l"/>
            <a:pathLst>
              <a:path h="8229600" w="15979806">
                <a:moveTo>
                  <a:pt x="0" y="0"/>
                </a:moveTo>
                <a:lnTo>
                  <a:pt x="15979806" y="0"/>
                </a:lnTo>
                <a:lnTo>
                  <a:pt x="1597980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15413">
            <a:off x="2342259" y="336783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3" y="0"/>
                </a:lnTo>
                <a:lnTo>
                  <a:pt x="2375893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79556" y="8201622"/>
            <a:ext cx="813193" cy="813193"/>
          </a:xfrm>
          <a:custGeom>
            <a:avLst/>
            <a:gdLst/>
            <a:ahLst/>
            <a:cxnLst/>
            <a:rect r="r" b="b" t="t" l="l"/>
            <a:pathLst>
              <a:path h="813193" w="813193">
                <a:moveTo>
                  <a:pt x="0" y="0"/>
                </a:moveTo>
                <a:lnTo>
                  <a:pt x="813193" y="0"/>
                </a:lnTo>
                <a:lnTo>
                  <a:pt x="813193" y="813193"/>
                </a:lnTo>
                <a:lnTo>
                  <a:pt x="0" y="8131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52402" y="1678786"/>
            <a:ext cx="2406898" cy="2319374"/>
          </a:xfrm>
          <a:custGeom>
            <a:avLst/>
            <a:gdLst/>
            <a:ahLst/>
            <a:cxnLst/>
            <a:rect r="r" b="b" t="t" l="l"/>
            <a:pathLst>
              <a:path h="2319374" w="2406898">
                <a:moveTo>
                  <a:pt x="0" y="0"/>
                </a:moveTo>
                <a:lnTo>
                  <a:pt x="2406898" y="0"/>
                </a:lnTo>
                <a:lnTo>
                  <a:pt x="2406898" y="2319374"/>
                </a:lnTo>
                <a:lnTo>
                  <a:pt x="0" y="23193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011241" y="5333507"/>
            <a:ext cx="3719618" cy="4114800"/>
          </a:xfrm>
          <a:custGeom>
            <a:avLst/>
            <a:gdLst/>
            <a:ahLst/>
            <a:cxnLst/>
            <a:rect r="r" b="b" t="t" l="l"/>
            <a:pathLst>
              <a:path h="4114800" w="3719618">
                <a:moveTo>
                  <a:pt x="0" y="0"/>
                </a:moveTo>
                <a:lnTo>
                  <a:pt x="3719619" y="0"/>
                </a:lnTo>
                <a:lnTo>
                  <a:pt x="3719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87294" y="5197984"/>
            <a:ext cx="14005455" cy="18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1"/>
              </a:lnSpc>
              <a:spcBef>
                <a:spcPct val="0"/>
              </a:spcBef>
            </a:pPr>
            <a:r>
              <a:rPr lang="en-US" sz="11992" spc="1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13428" y="7017621"/>
            <a:ext cx="8261144" cy="65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82"/>
              </a:lnSpc>
              <a:spcBef>
                <a:spcPct val="0"/>
              </a:spcBef>
            </a:pPr>
            <a:r>
              <a:rPr lang="en-US" sz="3654" spc="109">
                <a:solidFill>
                  <a:srgbClr val="3F3E3A"/>
                </a:solidFill>
                <a:latin typeface="Open Sans"/>
                <a:ea typeface="Open Sans"/>
                <a:cs typeface="Open Sans"/>
                <a:sym typeface="Open Sans"/>
              </a:rPr>
              <a:t>Presented by: Group 24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24813" y="2731335"/>
            <a:ext cx="11227589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9"/>
              </a:lnSpc>
              <a:spcBef>
                <a:spcPct val="0"/>
              </a:spcBef>
            </a:pPr>
            <a:r>
              <a:rPr lang="en-US" sz="16674" spc="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PROJECT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2418" y="0"/>
            <a:ext cx="1166730" cy="1620459"/>
          </a:xfrm>
          <a:custGeom>
            <a:avLst/>
            <a:gdLst/>
            <a:ahLst/>
            <a:cxnLst/>
            <a:rect r="r" b="b" t="t" l="l"/>
            <a:pathLst>
              <a:path h="1620459" w="1166730">
                <a:moveTo>
                  <a:pt x="0" y="0"/>
                </a:moveTo>
                <a:lnTo>
                  <a:pt x="1166730" y="0"/>
                </a:lnTo>
                <a:lnTo>
                  <a:pt x="1166730" y="1620459"/>
                </a:lnTo>
                <a:lnTo>
                  <a:pt x="0" y="16204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76662" y="2401901"/>
            <a:ext cx="8934676" cy="1102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6"/>
              </a:lnSpc>
            </a:pPr>
            <a:r>
              <a:rPr lang="en-US" sz="76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GROUP MEMBERS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95773" y="4753498"/>
            <a:ext cx="9696454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9"/>
              </a:lnSpc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DENZEL ROBIN : 2023BCS0189</a:t>
            </a:r>
          </a:p>
          <a:p>
            <a:pPr algn="ctr">
              <a:lnSpc>
                <a:spcPts val="5249"/>
              </a:lnSpc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RON STEPHEN MATHEW : 2023BCS0192</a:t>
            </a:r>
          </a:p>
          <a:p>
            <a:pPr algn="ctr">
              <a:lnSpc>
                <a:spcPts val="5249"/>
              </a:lnSpc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ADITHYA T J : 2023BCS0195</a:t>
            </a:r>
          </a:p>
          <a:p>
            <a:pPr algn="ctr">
              <a:lnSpc>
                <a:spcPts val="5249"/>
              </a:lnSpc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MUHAMMED MINHAJ P S : 2023BCS0225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97962" y="3850491"/>
            <a:ext cx="11092077" cy="456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</a:t>
            </a: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riculture plays a critical role in global food production. However, many farmers select crops based on market rather than data.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leads to: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 crop yield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Poor soil utilization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Financial losses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Inefficient farming decisions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There is a need for a data-driven recommendation system that can suggest the most suitable crops based on soil and environmental conditions.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13147" y="2451912"/>
            <a:ext cx="9461706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ROBLEM STATEMENT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97962" y="3402816"/>
            <a:ext cx="11092077" cy="547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</a:t>
            </a: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ild an Intelligent Crop Recommendation System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data mining techniques to analyze agricultural data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Recommend crops based on:</a:t>
            </a:r>
          </a:p>
          <a:p>
            <a:pPr algn="just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Nitrogen</a:t>
            </a:r>
          </a:p>
          <a:p>
            <a:pPr algn="just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Phosphorus</a:t>
            </a:r>
          </a:p>
          <a:p>
            <a:pPr algn="just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Potassium</a:t>
            </a:r>
          </a:p>
          <a:p>
            <a:pPr algn="just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emperature</a:t>
            </a:r>
          </a:p>
          <a:p>
            <a:pPr algn="just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Humidity</a:t>
            </a:r>
          </a:p>
          <a:p>
            <a:pPr algn="just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Soil pH</a:t>
            </a:r>
          </a:p>
          <a:p>
            <a:pPr algn="just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Rainfall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Provide accurate predictions using machine learning</a:t>
            </a:r>
          </a:p>
          <a:p>
            <a:pPr algn="just">
              <a:lnSpc>
                <a:spcPts val="364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413147" y="2451912"/>
            <a:ext cx="9461706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ROJECT OBJECTIVE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13147" y="2467693"/>
            <a:ext cx="9461706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OUR WORKFLOW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7962" y="4135021"/>
            <a:ext cx="11092077" cy="364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1) Dataset Exploration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2) Data Cleaning and Feature Engineering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3) Training and Testing the Model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4) Testing the backend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5) Creating an API for backend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6) Creating a frontend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7) Connecting frontend and backend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8) Using docker to make the application ready to deploy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97962" y="3857635"/>
            <a:ext cx="11092077" cy="4567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ataset source: </a:t>
            </a: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aggle Crop Recommendation Dataset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 Features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Temperature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Humidity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pH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Rainfall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Label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13147" y="2451912"/>
            <a:ext cx="9461706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</a:t>
            </a: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 OVERVIEW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97962" y="4348162"/>
            <a:ext cx="11092077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Records: 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2200</a:t>
            </a:r>
          </a:p>
          <a:p>
            <a:pPr algn="just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Number of crops: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22</a:t>
            </a:r>
          </a:p>
          <a:p>
            <a:pPr algn="just">
              <a:lnSpc>
                <a:spcPts val="4199"/>
              </a:lnSpc>
            </a:pPr>
            <a:r>
              <a:rPr lang="en-US" b="true" sz="2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Features: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13147" y="2451912"/>
            <a:ext cx="9461706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</a:t>
            </a: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 OVERVIEW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13147" y="2451912"/>
            <a:ext cx="9461706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</a:t>
            </a: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 OVERVIEW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60642" y="4380665"/>
            <a:ext cx="13513257" cy="1824290"/>
          </a:xfrm>
          <a:custGeom>
            <a:avLst/>
            <a:gdLst/>
            <a:ahLst/>
            <a:cxnLst/>
            <a:rect r="r" b="b" t="t" l="l"/>
            <a:pathLst>
              <a:path h="1824290" w="13513257">
                <a:moveTo>
                  <a:pt x="0" y="0"/>
                </a:moveTo>
                <a:lnTo>
                  <a:pt x="13513257" y="0"/>
                </a:lnTo>
                <a:lnTo>
                  <a:pt x="13513257" y="1824290"/>
                </a:lnTo>
                <a:lnTo>
                  <a:pt x="0" y="18242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13147" y="2718198"/>
            <a:ext cx="9461706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</a:t>
            </a: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 OVERVIEW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46031" y="4396893"/>
            <a:ext cx="13458099" cy="1968247"/>
          </a:xfrm>
          <a:custGeom>
            <a:avLst/>
            <a:gdLst/>
            <a:ahLst/>
            <a:cxnLst/>
            <a:rect r="r" b="b" t="t" l="l"/>
            <a:pathLst>
              <a:path h="1968247" w="13458099">
                <a:moveTo>
                  <a:pt x="0" y="0"/>
                </a:moveTo>
                <a:lnTo>
                  <a:pt x="13458099" y="0"/>
                </a:lnTo>
                <a:lnTo>
                  <a:pt x="13458099" y="1968247"/>
                </a:lnTo>
                <a:lnTo>
                  <a:pt x="0" y="19682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13147" y="2723394"/>
            <a:ext cx="9461706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FEATUR</a:t>
            </a: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CORRELATION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76802" y="5659317"/>
            <a:ext cx="13230792" cy="2216158"/>
          </a:xfrm>
          <a:custGeom>
            <a:avLst/>
            <a:gdLst/>
            <a:ahLst/>
            <a:cxnLst/>
            <a:rect r="r" b="b" t="t" l="l"/>
            <a:pathLst>
              <a:path h="2216158" w="13230792">
                <a:moveTo>
                  <a:pt x="0" y="0"/>
                </a:moveTo>
                <a:lnTo>
                  <a:pt x="13230791" y="0"/>
                </a:lnTo>
                <a:lnTo>
                  <a:pt x="13230791" y="2216157"/>
                </a:lnTo>
                <a:lnTo>
                  <a:pt x="0" y="22161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76802" y="4220210"/>
            <a:ext cx="1304180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Feature Correlation was done using Pearson Correlation Coefficient between all numerical features.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13147" y="2723394"/>
            <a:ext cx="9461706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FEATUR</a:t>
            </a: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CORRELATION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7962" y="4585679"/>
            <a:ext cx="11092077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correlation matrix shows that most features have</a:t>
            </a:r>
            <a:r>
              <a:rPr lang="en-US" b="true" sz="2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low correlation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meaning each variable contributes unique information for crop prediction.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2102" y="2467693"/>
            <a:ext cx="10843795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OUTLIER ANALYSIS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7962" y="3613177"/>
            <a:ext cx="11092077" cy="346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Outliers were detected using IQR method.</a:t>
            </a:r>
          </a:p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Outliers observed in:</a:t>
            </a:r>
          </a:p>
          <a:p>
            <a:pPr algn="just" marL="712467" indent="-35623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pH</a:t>
            </a:r>
          </a:p>
          <a:p>
            <a:pPr algn="just" marL="712467" indent="-35623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Phosphorus</a:t>
            </a:r>
          </a:p>
          <a:p>
            <a:pPr algn="just" marL="712467" indent="-35623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</a:t>
            </a: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mperature</a:t>
            </a:r>
          </a:p>
          <a:p>
            <a:pPr algn="just" marL="712467" indent="-35623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Rainfall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88443" y="1927047"/>
            <a:ext cx="6311115" cy="6907940"/>
          </a:xfrm>
          <a:custGeom>
            <a:avLst/>
            <a:gdLst/>
            <a:ahLst/>
            <a:cxnLst/>
            <a:rect r="r" b="b" t="t" l="l"/>
            <a:pathLst>
              <a:path h="6907940" w="6311115">
                <a:moveTo>
                  <a:pt x="0" y="0"/>
                </a:moveTo>
                <a:lnTo>
                  <a:pt x="6311114" y="0"/>
                </a:lnTo>
                <a:lnTo>
                  <a:pt x="6311114" y="6907940"/>
                </a:lnTo>
                <a:lnTo>
                  <a:pt x="0" y="6907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80922" y="1790754"/>
            <a:ext cx="6126156" cy="6705491"/>
          </a:xfrm>
          <a:custGeom>
            <a:avLst/>
            <a:gdLst/>
            <a:ahLst/>
            <a:cxnLst/>
            <a:rect r="r" b="b" t="t" l="l"/>
            <a:pathLst>
              <a:path h="6705491" w="6126156">
                <a:moveTo>
                  <a:pt x="0" y="0"/>
                </a:moveTo>
                <a:lnTo>
                  <a:pt x="6126156" y="0"/>
                </a:lnTo>
                <a:lnTo>
                  <a:pt x="6126156" y="6705492"/>
                </a:lnTo>
                <a:lnTo>
                  <a:pt x="0" y="67054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57404" y="2002529"/>
            <a:ext cx="6173192" cy="6756975"/>
          </a:xfrm>
          <a:custGeom>
            <a:avLst/>
            <a:gdLst/>
            <a:ahLst/>
            <a:cxnLst/>
            <a:rect r="r" b="b" t="t" l="l"/>
            <a:pathLst>
              <a:path h="6756975" w="6173192">
                <a:moveTo>
                  <a:pt x="0" y="0"/>
                </a:moveTo>
                <a:lnTo>
                  <a:pt x="6173192" y="0"/>
                </a:lnTo>
                <a:lnTo>
                  <a:pt x="6173192" y="6756975"/>
                </a:lnTo>
                <a:lnTo>
                  <a:pt x="0" y="6756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52635" y="1650336"/>
            <a:ext cx="6382730" cy="6986328"/>
          </a:xfrm>
          <a:custGeom>
            <a:avLst/>
            <a:gdLst/>
            <a:ahLst/>
            <a:cxnLst/>
            <a:rect r="r" b="b" t="t" l="l"/>
            <a:pathLst>
              <a:path h="6986328" w="6382730">
                <a:moveTo>
                  <a:pt x="0" y="0"/>
                </a:moveTo>
                <a:lnTo>
                  <a:pt x="6382730" y="0"/>
                </a:lnTo>
                <a:lnTo>
                  <a:pt x="6382730" y="6986328"/>
                </a:lnTo>
                <a:lnTo>
                  <a:pt x="0" y="69863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2102" y="2467693"/>
            <a:ext cx="10843795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OUTLIER ANALYSIS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7962" y="4323742"/>
            <a:ext cx="11092077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However, we did not remove these values because: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They represent valid crop requirements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Rem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oving them would r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move crop categories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would b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ias the model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2102" y="2467693"/>
            <a:ext cx="10843795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CLEANING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63954" y="4074822"/>
            <a:ext cx="12350765" cy="255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After the exploration of dataset, we found</a:t>
            </a: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dataset we got from </a:t>
            </a: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1800AD"/>
                </a:solidFill>
                <a:latin typeface="Open Sans"/>
                <a:ea typeface="Open Sans"/>
                <a:cs typeface="Open Sans"/>
                <a:sym typeface="Open Sans"/>
              </a:rPr>
              <a:t>https://www.kaggle.com/datasets/atharvaingle/crop-recommendation-dataset</a:t>
            </a: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was already cleaned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2102" y="2467693"/>
            <a:ext cx="10843795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FEATURE ENGINEERING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7962" y="3799867"/>
            <a:ext cx="11092077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 have added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NP_ratio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NK_ratio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PK_ratio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temp_humidity_interaction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rainfall_ph_interaction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2102" y="2467693"/>
            <a:ext cx="10843795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TRAIN-TEST SPLITTING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7962" y="4323742"/>
            <a:ext cx="11092077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 used </a:t>
            </a:r>
            <a:r>
              <a:rPr lang="en-US" sz="2999" b="true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stratified sampling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to take 80% of data from each label and use them for training.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Rest 20% was used for testing.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2102" y="2467693"/>
            <a:ext cx="10843795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 TRAINING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7962" y="3335890"/>
            <a:ext cx="11092077" cy="502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architecture we used is </a:t>
            </a:r>
            <a:r>
              <a:rPr lang="en-US" sz="2600" b="true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XGBoost</a:t>
            </a: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model is trained entirely in R.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architecture was imported from the library “xgboost”</a:t>
            </a: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Steps performed:</a:t>
            </a:r>
          </a:p>
          <a:p>
            <a:pPr algn="just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Load processed training and testing datasets</a:t>
            </a:r>
          </a:p>
          <a:p>
            <a:pPr algn="just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Convert data into XGBoost DMatrix format</a:t>
            </a:r>
          </a:p>
          <a:p>
            <a:pPr algn="just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Define model parameters</a:t>
            </a:r>
          </a:p>
          <a:p>
            <a:pPr algn="just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Train the model with early stopping</a:t>
            </a:r>
          </a:p>
          <a:p>
            <a:pPr algn="just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Evaluate performance on test data</a:t>
            </a:r>
          </a:p>
          <a:p>
            <a:pPr algn="just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2102" y="2467693"/>
            <a:ext cx="10843795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WHY XGBOOST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7962" y="3687806"/>
            <a:ext cx="11092077" cy="461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XGBoost</a:t>
            </a: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is optimized for structured tabular data and can effectively capture relationships between soil nutrients and environmental factors.</a:t>
            </a:r>
          </a:p>
          <a:p>
            <a:pPr algn="just">
              <a:lnSpc>
                <a:spcPts val="4059"/>
              </a:lnSpc>
            </a:pP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XGBoost learns complex nonlinear relationships between soil nutrients, climate variables, and crop types.</a:t>
            </a:r>
          </a:p>
          <a:p>
            <a:pPr algn="just">
              <a:lnSpc>
                <a:spcPts val="4059"/>
              </a:lnSpc>
            </a:pP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XGBoost improves accuracy by combining multiple decision trees using gradient boosting.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2102" y="2467693"/>
            <a:ext cx="10843795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WHY XGBOOST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7962" y="4441551"/>
            <a:ext cx="11092077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XGBoost trains multiple decision trees sequentially, where each tree corrects the errors of the previous one.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Tree-based models are robust to outliers, making them suitable for agricultural datasets with extreme environmental conditions.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2102" y="2467693"/>
            <a:ext cx="10843795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 HYPERPARAMETERS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4439383" y="3418665"/>
          <a:ext cx="5657850" cy="5029200"/>
        </p:xfrm>
        <a:graphic>
          <a:graphicData uri="http://schemas.openxmlformats.org/presentationml/2006/ole">
            <p:oleObj imgW="6781800" imgH="61595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2102" y="2467693"/>
            <a:ext cx="10843795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 TESTING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7962" y="3528087"/>
            <a:ext cx="11092077" cy="364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Merror is the metric used for model testing.</a:t>
            </a: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b="true" sz="2600" u="sng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What it counts?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Every sample where the predicted crop label does not match the true label.</a:t>
            </a: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 also used early stopping(50 rounds) while training, merror is very suitable for early stopping to function properly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2102" y="2467693"/>
            <a:ext cx="10843795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 TESTING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72307" y="4521828"/>
            <a:ext cx="5943387" cy="4302575"/>
          </a:xfrm>
          <a:custGeom>
            <a:avLst/>
            <a:gdLst/>
            <a:ahLst/>
            <a:cxnLst/>
            <a:rect r="r" b="b" t="t" l="l"/>
            <a:pathLst>
              <a:path h="4302575" w="5943387">
                <a:moveTo>
                  <a:pt x="0" y="0"/>
                </a:moveTo>
                <a:lnTo>
                  <a:pt x="5943386" y="0"/>
                </a:lnTo>
                <a:lnTo>
                  <a:pt x="5943386" y="4302575"/>
                </a:lnTo>
                <a:lnTo>
                  <a:pt x="0" y="4302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97962" y="3398834"/>
            <a:ext cx="11092077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 evaluate the model based on how highly the correct crop appears in the recommendation list.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2102" y="2467693"/>
            <a:ext cx="10843795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CONFUSION MATRIX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24113" y="3238500"/>
            <a:ext cx="8548105" cy="5562214"/>
          </a:xfrm>
          <a:custGeom>
            <a:avLst/>
            <a:gdLst/>
            <a:ahLst/>
            <a:cxnLst/>
            <a:rect r="r" b="b" t="t" l="l"/>
            <a:pathLst>
              <a:path h="5562214" w="8548105">
                <a:moveTo>
                  <a:pt x="0" y="0"/>
                </a:moveTo>
                <a:lnTo>
                  <a:pt x="8548105" y="0"/>
                </a:lnTo>
                <a:lnTo>
                  <a:pt x="8548105" y="5562214"/>
                </a:lnTo>
                <a:lnTo>
                  <a:pt x="0" y="55622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2102" y="2467693"/>
            <a:ext cx="10843795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CONFUSION MATRIX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77717" y="3238500"/>
            <a:ext cx="9996205" cy="5635360"/>
          </a:xfrm>
          <a:custGeom>
            <a:avLst/>
            <a:gdLst/>
            <a:ahLst/>
            <a:cxnLst/>
            <a:rect r="r" b="b" t="t" l="l"/>
            <a:pathLst>
              <a:path h="5635360" w="9996205">
                <a:moveTo>
                  <a:pt x="0" y="0"/>
                </a:moveTo>
                <a:lnTo>
                  <a:pt x="9996205" y="0"/>
                </a:lnTo>
                <a:lnTo>
                  <a:pt x="9996205" y="5635360"/>
                </a:lnTo>
                <a:lnTo>
                  <a:pt x="0" y="56353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24749" y="1710880"/>
            <a:ext cx="10843795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TRAINING VS VALIDATION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36516" y="2635853"/>
            <a:ext cx="8836078" cy="5809722"/>
          </a:xfrm>
          <a:custGeom>
            <a:avLst/>
            <a:gdLst/>
            <a:ahLst/>
            <a:cxnLst/>
            <a:rect r="r" b="b" t="t" l="l"/>
            <a:pathLst>
              <a:path h="5809722" w="8836078">
                <a:moveTo>
                  <a:pt x="0" y="0"/>
                </a:moveTo>
                <a:lnTo>
                  <a:pt x="8836079" y="0"/>
                </a:lnTo>
                <a:lnTo>
                  <a:pt x="8836079" y="5809722"/>
                </a:lnTo>
                <a:lnTo>
                  <a:pt x="0" y="58097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2102" y="2948346"/>
            <a:ext cx="10843795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API CREATION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7962" y="4323742"/>
            <a:ext cx="11092077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 order to use the ML model trained in R, we need an API.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There is a library in R, called “plumber”. Plumber can make an API for RScript.  This API can be used on web application connecting frontend and backend.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2102" y="2467693"/>
            <a:ext cx="10843795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SYSTEM IMPLEMENTATION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7962" y="3249639"/>
            <a:ext cx="11092077" cy="4215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Components of the system:</a:t>
            </a: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Developed in R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Model trained in XGBoost architecture</a:t>
            </a:r>
          </a:p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API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Created using plumber library in R</a:t>
            </a:r>
          </a:p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Developed with React + Javascript + Tailwind CSS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2102" y="4853346"/>
            <a:ext cx="10843795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APPLICATION DEMO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20808" y="1599703"/>
            <a:ext cx="12246384" cy="7087595"/>
          </a:xfrm>
          <a:custGeom>
            <a:avLst/>
            <a:gdLst/>
            <a:ahLst/>
            <a:cxnLst/>
            <a:rect r="r" b="b" t="t" l="l"/>
            <a:pathLst>
              <a:path h="7087595" w="12246384">
                <a:moveTo>
                  <a:pt x="0" y="0"/>
                </a:moveTo>
                <a:lnTo>
                  <a:pt x="12246384" y="0"/>
                </a:lnTo>
                <a:lnTo>
                  <a:pt x="12246384" y="7087594"/>
                </a:lnTo>
                <a:lnTo>
                  <a:pt x="0" y="70875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05008" y="1620278"/>
            <a:ext cx="10477984" cy="7046444"/>
          </a:xfrm>
          <a:custGeom>
            <a:avLst/>
            <a:gdLst/>
            <a:ahLst/>
            <a:cxnLst/>
            <a:rect r="r" b="b" t="t" l="l"/>
            <a:pathLst>
              <a:path h="7046444" w="10477984">
                <a:moveTo>
                  <a:pt x="0" y="0"/>
                </a:moveTo>
                <a:lnTo>
                  <a:pt x="10477984" y="0"/>
                </a:lnTo>
                <a:lnTo>
                  <a:pt x="10477984" y="7046444"/>
                </a:lnTo>
                <a:lnTo>
                  <a:pt x="0" y="70464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2102" y="2467693"/>
            <a:ext cx="10843795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7962" y="4433570"/>
            <a:ext cx="11092077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Implemented data driven crop selection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Quick response from ML model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Helps farmers make smart cultivation decisions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8223" y="1267431"/>
            <a:ext cx="14391553" cy="8227171"/>
          </a:xfrm>
          <a:custGeom>
            <a:avLst/>
            <a:gdLst/>
            <a:ahLst/>
            <a:cxnLst/>
            <a:rect r="r" b="b" t="t" l="l"/>
            <a:pathLst>
              <a:path h="8227171" w="14391553">
                <a:moveTo>
                  <a:pt x="0" y="0"/>
                </a:moveTo>
                <a:lnTo>
                  <a:pt x="14391554" y="0"/>
                </a:lnTo>
                <a:lnTo>
                  <a:pt x="14391554" y="8227172"/>
                </a:lnTo>
                <a:lnTo>
                  <a:pt x="0" y="822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2102" y="2467693"/>
            <a:ext cx="10843795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CONCLUSION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15413">
            <a:off x="2158212" y="256157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4" y="0"/>
                </a:lnTo>
                <a:lnTo>
                  <a:pt x="2375894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7962" y="3985287"/>
            <a:ext cx="11092077" cy="273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Intelligent Crop Recommendation System demonstrates how data mining techniques can be applied to agriculture.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By analyzing soil nutrients and environmental conditions, the system provides accurate crop recommendations that can help farmers make better decisions and improve agricultural productivity.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55" r="0" b="-387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1894" y="1629612"/>
            <a:ext cx="15979806" cy="8229600"/>
          </a:xfrm>
          <a:custGeom>
            <a:avLst/>
            <a:gdLst/>
            <a:ahLst/>
            <a:cxnLst/>
            <a:rect r="r" b="b" t="t" l="l"/>
            <a:pathLst>
              <a:path h="8229600" w="15979806">
                <a:moveTo>
                  <a:pt x="0" y="0"/>
                </a:moveTo>
                <a:lnTo>
                  <a:pt x="15979806" y="0"/>
                </a:lnTo>
                <a:lnTo>
                  <a:pt x="1597980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15413">
            <a:off x="2494659" y="489183"/>
            <a:ext cx="2375894" cy="2280858"/>
          </a:xfrm>
          <a:custGeom>
            <a:avLst/>
            <a:gdLst/>
            <a:ahLst/>
            <a:cxnLst/>
            <a:rect r="r" b="b" t="t" l="l"/>
            <a:pathLst>
              <a:path h="2280858" w="2375894">
                <a:moveTo>
                  <a:pt x="0" y="0"/>
                </a:moveTo>
                <a:lnTo>
                  <a:pt x="2375893" y="0"/>
                </a:lnTo>
                <a:lnTo>
                  <a:pt x="2375893" y="2280858"/>
                </a:lnTo>
                <a:lnTo>
                  <a:pt x="0" y="2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04802" y="1831186"/>
            <a:ext cx="2406898" cy="2319374"/>
          </a:xfrm>
          <a:custGeom>
            <a:avLst/>
            <a:gdLst/>
            <a:ahLst/>
            <a:cxnLst/>
            <a:rect r="r" b="b" t="t" l="l"/>
            <a:pathLst>
              <a:path h="2319374" w="2406898">
                <a:moveTo>
                  <a:pt x="0" y="0"/>
                </a:moveTo>
                <a:lnTo>
                  <a:pt x="2406898" y="0"/>
                </a:lnTo>
                <a:lnTo>
                  <a:pt x="2406898" y="2319374"/>
                </a:lnTo>
                <a:lnTo>
                  <a:pt x="0" y="2319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58841" y="5485907"/>
            <a:ext cx="3719618" cy="4114800"/>
          </a:xfrm>
          <a:custGeom>
            <a:avLst/>
            <a:gdLst/>
            <a:ahLst/>
            <a:cxnLst/>
            <a:rect r="r" b="b" t="t" l="l"/>
            <a:pathLst>
              <a:path h="4114800" w="3719618">
                <a:moveTo>
                  <a:pt x="0" y="0"/>
                </a:moveTo>
                <a:lnTo>
                  <a:pt x="3719619" y="0"/>
                </a:lnTo>
                <a:lnTo>
                  <a:pt x="3719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73816" y="3966139"/>
            <a:ext cx="8688208" cy="3611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373"/>
              </a:lnSpc>
            </a:pPr>
            <a:r>
              <a:rPr lang="en-US" sz="16716" spc="5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THANK 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528574" y="6603127"/>
            <a:ext cx="2883126" cy="2997579"/>
          </a:xfrm>
          <a:custGeom>
            <a:avLst/>
            <a:gdLst/>
            <a:ahLst/>
            <a:cxnLst/>
            <a:rect r="r" b="b" t="t" l="l"/>
            <a:pathLst>
              <a:path h="2997579" w="2883126">
                <a:moveTo>
                  <a:pt x="0" y="0"/>
                </a:moveTo>
                <a:lnTo>
                  <a:pt x="2883126" y="0"/>
                </a:lnTo>
                <a:lnTo>
                  <a:pt x="2883126" y="2997580"/>
                </a:lnTo>
                <a:lnTo>
                  <a:pt x="0" y="2997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DAHDiM9U8is</dc:identifier>
  <dcterms:modified xsi:type="dcterms:W3CDTF">2011-08-01T06:04:30Z</dcterms:modified>
  <cp:revision>1</cp:revision>
  <dc:title>Presented by: Group 24</dc:title>
</cp:coreProperties>
</file>